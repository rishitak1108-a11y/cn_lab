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20" autoAdjust="0"/>
  </p:normalViewPr>
  <p:slideViewPr>
    <p:cSldViewPr snapToGrid="0">
      <p:cViewPr>
        <p:scale>
          <a:sx n="66" d="100"/>
          <a:sy n="66" d="100"/>
        </p:scale>
        <p:origin x="19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08480451400215X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hyperlink" Target="10.1109/ICCCN.2011.6005933." TargetMode="External"/><Relationship Id="rId4" Type="http://schemas.openxmlformats.org/officeDocument/2006/relationships/hyperlink" Target="https://www.sciencedirect.com/science/article/pii/S108480451400215X?via%3Dihu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lang="en-IN"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NETRESCUE – SELF HEALING SOFTWARE NETWORKS</a:t>
            </a:r>
            <a:endParaRPr sz="2550" b="1" dirty="0">
              <a:solidFill>
                <a:srgbClr val="2037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Manjiri Sakore 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1262242414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</a:t>
            </a:r>
            <a:r>
              <a:rPr lang="en-IN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		</a:t>
            </a:r>
            <a:r>
              <a:rPr lang="en-IN" sz="1575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Aashnaa</a:t>
            </a:r>
            <a:r>
              <a:rPr lang="en-IN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Panda</a:t>
            </a: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1262241937</a:t>
            </a: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Rishita </a:t>
            </a:r>
            <a:r>
              <a:rPr lang="en-IN"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Kumar –1262242408 		Tanushree Doddamani–1262241836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14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 Panel 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K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Batch 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02</a:t>
            </a:r>
            <a:endParaRPr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Dr. Uma </a:t>
            </a:r>
            <a:r>
              <a:rPr lang="en-US" sz="15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Pujeri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Presentation date: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22/10/2026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992152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380056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dirty="0" err="1">
                <a:solidFill>
                  <a:srgbClr val="202020"/>
                </a:solidFill>
                <a:latin typeface="Arial"/>
              </a:rPr>
              <a:t>NetRescue</a:t>
            </a:r>
            <a:r>
              <a:rPr lang="en-IN" dirty="0">
                <a:solidFill>
                  <a:srgbClr val="202020"/>
                </a:solidFill>
                <a:latin typeface="Arial"/>
              </a:rPr>
              <a:t> addresses network failures, packet loss, delays, and unreliable file transfers through failure recovery, multipath transfer, and diagnostics.</a:t>
            </a:r>
            <a:br>
              <a:rPr lang="en-IN" dirty="0">
                <a:solidFill>
                  <a:srgbClr val="202020"/>
                </a:solidFill>
                <a:latin typeface="Arial"/>
              </a:rPr>
            </a:br>
            <a:br>
              <a:rPr lang="en-IN" dirty="0">
                <a:solidFill>
                  <a:srgbClr val="202020"/>
                </a:solidFill>
                <a:latin typeface="Arial"/>
              </a:rPr>
            </a:br>
            <a:r>
              <a:rPr lang="en-IN" dirty="0">
                <a:solidFill>
                  <a:srgbClr val="202020"/>
                </a:solidFill>
                <a:latin typeface="Arial"/>
              </a:rPr>
              <a:t> It targets network engineers, IT administrators, researchers, and students.</a:t>
            </a: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732219" y="2609144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866775" y="3914422"/>
            <a:ext cx="74104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IN" dirty="0"/>
              <a:t>Measure failure detection and recovery time using hysteresis-based thresholds.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IN" dirty="0"/>
              <a:t>Verify file-transfer completeness and integrity using chunk tracking and SHA-256 hashes.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IN" dirty="0"/>
              <a:t>Evaluate network latency, packet loss, and scheduler performance using real diagnostics and controlled simulations.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1D5B80-E529-3DB0-C034-75F34E63B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5" y="2991875"/>
            <a:ext cx="1103237" cy="83605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7557F4-7B9B-0D63-DE19-77785F231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982" y="2991875"/>
            <a:ext cx="1103238" cy="79169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93B5CC-90E1-942D-7ED3-C0C0933C4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327" y="2912255"/>
            <a:ext cx="1103237" cy="8775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C77E38-BCEE-C8E7-606F-FB0B15CF2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0947" y="2927414"/>
            <a:ext cx="1103237" cy="9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65B4C-1ED1-4575-9868-72A5C8661C44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-1300618" y="4926342"/>
            <a:ext cx="809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E6075-8C06-AA8D-C248-DB90B7091741}"/>
              </a:ext>
            </a:extLst>
          </p:cNvPr>
          <p:cNvSpPr txBox="1"/>
          <p:nvPr/>
        </p:nvSpPr>
        <p:spPr>
          <a:xfrm>
            <a:off x="7448564" y="752365"/>
            <a:ext cx="175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Tools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2F7790-1E43-5F30-E9F4-AD7C4226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37" y="1734413"/>
            <a:ext cx="723963" cy="701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CC93DB-B925-4AD1-A5AC-71D03C4BC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463" y="1153416"/>
            <a:ext cx="1539373" cy="3962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6170FF2-A828-9FE5-348A-A4A51D5A5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37" y="1688689"/>
            <a:ext cx="815411" cy="7468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448B37-2763-FA5C-4C79-9973F25C4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987" y="1696309"/>
            <a:ext cx="815411" cy="7773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F632C91-276D-C4D0-A3C6-2A55EFA48C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8876" y="2658339"/>
            <a:ext cx="1386960" cy="3962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A00BE28-C22C-D2C4-42F6-2DC83CDDB3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7750" y="3292060"/>
            <a:ext cx="651625" cy="73158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0EDD082-DF05-9949-B51D-C589F5D342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4541" y="3297492"/>
            <a:ext cx="701101" cy="73158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DEB18D4-68F3-4177-2DA1-7E28FFF993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6295" y="3258388"/>
            <a:ext cx="815411" cy="76082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A0B0119-19A0-03B6-53A8-9A63376200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2442" y="3320333"/>
            <a:ext cx="710533" cy="67503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EE2BC14-D560-7825-9A5F-E75D7A7DAE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8820" y="4364367"/>
            <a:ext cx="1432684" cy="43437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321597A-E913-8590-F94F-49A99EDA14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0679" y="4951395"/>
            <a:ext cx="914479" cy="8717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7A17789-FB8B-F097-34A3-E94146DC75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8397" y="4339587"/>
            <a:ext cx="1725603" cy="42675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149A5CE-D463-EA3D-C621-A8FD976657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0222" y="4951395"/>
            <a:ext cx="1905000" cy="914366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988DEE8-1D26-77FF-EFF5-42E0C3ABC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507534"/>
              </p:ext>
            </p:extLst>
          </p:nvPr>
        </p:nvGraphicFramePr>
        <p:xfrm>
          <a:off x="221298" y="1183976"/>
          <a:ext cx="5421286" cy="2621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0643">
                  <a:extLst>
                    <a:ext uri="{9D8B030D-6E8A-4147-A177-3AD203B41FA5}">
                      <a16:colId xmlns:a16="http://schemas.microsoft.com/office/drawing/2014/main" val="760889790"/>
                    </a:ext>
                  </a:extLst>
                </a:gridCol>
                <a:gridCol w="2710643">
                  <a:extLst>
                    <a:ext uri="{9D8B030D-6E8A-4147-A177-3AD203B41FA5}">
                      <a16:colId xmlns:a16="http://schemas.microsoft.com/office/drawing/2014/main" val="1527374945"/>
                    </a:ext>
                  </a:extLst>
                </a:gridCol>
              </a:tblGrid>
              <a:tr h="251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1"/>
                          </a:solidFill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1"/>
                          </a:solidFill>
                        </a:rPr>
                        <a:t>Details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554647"/>
                  </a:ext>
                </a:extLst>
              </a:tr>
              <a:tr h="929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Protocols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HTTP/HTTPS for API communication; ICMP for ping and latency checks; DNS for hostname resolution; TCP concepts for reliable transfer.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20013"/>
                  </a:ext>
                </a:extLst>
              </a:tr>
              <a:tr h="929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Addressing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Localhost: 127.0.0.1; Backend: port 8000; Frontend: Vite development port (e.g., 3002). Subnet and host addressing depend on the tested network.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185368"/>
                  </a:ext>
                </a:extLst>
              </a:tr>
            </a:tbl>
          </a:graphicData>
        </a:graphic>
      </p:graphicFrame>
      <p:pic>
        <p:nvPicPr>
          <p:cNvPr id="45" name="Picture 44">
            <a:extLst>
              <a:ext uri="{FF2B5EF4-FFF2-40B4-BE49-F238E27FC236}">
                <a16:creationId xmlns:a16="http://schemas.microsoft.com/office/drawing/2014/main" id="{8E0D2516-F4D0-4A63-A3B8-8350699C2ED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9658" y="4297216"/>
            <a:ext cx="5352926" cy="1730361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FA1F9AA-1F06-4995-E1D0-2B3581700683}"/>
              </a:ext>
            </a:extLst>
          </p:cNvPr>
          <p:cNvSpPr txBox="1"/>
          <p:nvPr/>
        </p:nvSpPr>
        <p:spPr>
          <a:xfrm>
            <a:off x="1493908" y="3849975"/>
            <a:ext cx="3333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Architecture</a:t>
            </a:r>
            <a:r>
              <a:rPr lang="en-IN" sz="2000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3143250" y="1027423"/>
            <a:ext cx="5972175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 sz="1600" b="0" dirty="0"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3167063" y="3802683"/>
            <a:ext cx="80962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DA0506-A189-2623-E740-96924C531832}"/>
              </a:ext>
            </a:extLst>
          </p:cNvPr>
          <p:cNvCxnSpPr>
            <a:cxnSpLocks/>
          </p:cNvCxnSpPr>
          <p:nvPr/>
        </p:nvCxnSpPr>
        <p:spPr>
          <a:xfrm>
            <a:off x="0" y="912193"/>
            <a:ext cx="91154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587011-25CC-4509-51DC-D6F09D1D63A7}"/>
              </a:ext>
            </a:extLst>
          </p:cNvPr>
          <p:cNvCxnSpPr>
            <a:cxnSpLocks/>
          </p:cNvCxnSpPr>
          <p:nvPr/>
        </p:nvCxnSpPr>
        <p:spPr>
          <a:xfrm>
            <a:off x="3048000" y="912193"/>
            <a:ext cx="0" cy="5367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A81791-6C99-CCE5-313A-DE83B60C6D2E}"/>
              </a:ext>
            </a:extLst>
          </p:cNvPr>
          <p:cNvCxnSpPr>
            <a:cxnSpLocks/>
          </p:cNvCxnSpPr>
          <p:nvPr/>
        </p:nvCxnSpPr>
        <p:spPr>
          <a:xfrm>
            <a:off x="3048000" y="1706252"/>
            <a:ext cx="609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1B64EA6-5ED4-D9C9-2A04-B4F3C6B90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02" y="1246261"/>
            <a:ext cx="2731287" cy="503326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690FC7A-A0A2-45DA-AD8F-E1CC650C7F09}"/>
              </a:ext>
            </a:extLst>
          </p:cNvPr>
          <p:cNvSpPr txBox="1"/>
          <p:nvPr/>
        </p:nvSpPr>
        <p:spPr>
          <a:xfrm>
            <a:off x="3143250" y="1720747"/>
            <a:ext cx="203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Implementation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A3AAC5-F364-D9BE-A4BA-1098283E04A3}"/>
              </a:ext>
            </a:extLst>
          </p:cNvPr>
          <p:cNvSpPr txBox="1"/>
          <p:nvPr/>
        </p:nvSpPr>
        <p:spPr>
          <a:xfrm>
            <a:off x="5510214" y="4181708"/>
            <a:ext cx="127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/>
              <a:t>Working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C87DDB-1F3A-F57C-C1C3-618DC11AE544}"/>
              </a:ext>
            </a:extLst>
          </p:cNvPr>
          <p:cNvSpPr txBox="1"/>
          <p:nvPr/>
        </p:nvSpPr>
        <p:spPr>
          <a:xfrm>
            <a:off x="5379365" y="1727737"/>
            <a:ext cx="203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Troubleshooting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EF0DA6-BCEA-1172-68EC-935A26442F57}"/>
              </a:ext>
            </a:extLst>
          </p:cNvPr>
          <p:cNvSpPr txBox="1"/>
          <p:nvPr/>
        </p:nvSpPr>
        <p:spPr>
          <a:xfrm>
            <a:off x="3025291" y="2187672"/>
            <a:ext cx="240766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Configure Network Modules.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Set Recovery Thresholds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Configure Transfer Policies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DFCC25-0F4D-6138-6122-4262445884D5}"/>
              </a:ext>
            </a:extLst>
          </p:cNvPr>
          <p:cNvSpPr txBox="1"/>
          <p:nvPr/>
        </p:nvSpPr>
        <p:spPr>
          <a:xfrm>
            <a:off x="5523136" y="2109091"/>
            <a:ext cx="17171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600" dirty="0"/>
              <a:t>Detect Link Failures</a:t>
            </a:r>
            <a:br>
              <a:rPr lang="en-IN" sz="1600" dirty="0"/>
            </a:br>
            <a:endParaRPr lang="en-IN" sz="1600" dirty="0"/>
          </a:p>
          <a:p>
            <a:pPr lvl="0" algn="ctr"/>
            <a:r>
              <a:rPr lang="en-IN" sz="1600" dirty="0"/>
              <a:t>Check Network Connectivity</a:t>
            </a:r>
          </a:p>
          <a:p>
            <a:pPr algn="ctr"/>
            <a:br>
              <a:rPr lang="en-IN" sz="1600" dirty="0"/>
            </a:br>
            <a:r>
              <a:rPr lang="en-IN" sz="1600" dirty="0"/>
              <a:t>Validate Recovery Results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9736F-7FBC-4415-75C7-D8AF52CB9839}"/>
              </a:ext>
            </a:extLst>
          </p:cNvPr>
          <p:cNvSpPr txBox="1"/>
          <p:nvPr/>
        </p:nvSpPr>
        <p:spPr>
          <a:xfrm>
            <a:off x="3452818" y="955624"/>
            <a:ext cx="54101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Arial"/>
                <a:ea typeface="Arial"/>
                <a:cs typeface="Arial"/>
              </a:rPr>
              <a:t>Key configuration</a:t>
            </a:r>
            <a:r>
              <a:rPr lang="en-US" sz="1600" dirty="0">
                <a:latin typeface="Arial"/>
                <a:ea typeface="Arial"/>
                <a:cs typeface="Arial"/>
              </a:rPr>
              <a:t>: </a:t>
            </a:r>
            <a:r>
              <a:rPr lang="en-IN" sz="1600" dirty="0" err="1">
                <a:latin typeface="Arial"/>
              </a:rPr>
              <a:t>F_thresh</a:t>
            </a:r>
            <a:r>
              <a:rPr lang="en-IN" sz="1600" dirty="0">
                <a:latin typeface="Arial"/>
              </a:rPr>
              <a:t> = 3, </a:t>
            </a:r>
            <a:r>
              <a:rPr lang="en-IN" sz="1600" dirty="0" err="1">
                <a:latin typeface="Arial"/>
              </a:rPr>
              <a:t>R_thresh</a:t>
            </a:r>
            <a:r>
              <a:rPr lang="en-IN" sz="1600" dirty="0">
                <a:latin typeface="Arial"/>
              </a:rPr>
              <a:t> = 5, N = 5, </a:t>
            </a:r>
            <a:r>
              <a:rPr lang="en-IN" sz="1600" dirty="0" err="1">
                <a:latin typeface="Arial"/>
              </a:rPr>
              <a:t>use_ewma</a:t>
            </a:r>
            <a:r>
              <a:rPr lang="en-IN" sz="1600" dirty="0">
                <a:latin typeface="Arial"/>
              </a:rPr>
              <a:t> = false.</a:t>
            </a:r>
            <a:endParaRPr lang="en-US" sz="1600" dirty="0">
              <a:latin typeface="Arial"/>
              <a:ea typeface="Arial"/>
              <a:cs typeface="Arial"/>
            </a:endParaRPr>
          </a:p>
          <a:p>
            <a:pPr algn="ctr"/>
            <a:endParaRPr lang="en-IN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9366D6-C467-DA90-F01C-46F3A91F63B3}"/>
              </a:ext>
            </a:extLst>
          </p:cNvPr>
          <p:cNvSpPr txBox="1"/>
          <p:nvPr/>
        </p:nvSpPr>
        <p:spPr>
          <a:xfrm>
            <a:off x="511964" y="920441"/>
            <a:ext cx="202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/>
              <a:t>Workflow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C58B878-255C-B021-3720-13BFB788014A}"/>
              </a:ext>
            </a:extLst>
          </p:cNvPr>
          <p:cNvCxnSpPr>
            <a:cxnSpLocks/>
          </p:cNvCxnSpPr>
          <p:nvPr/>
        </p:nvCxnSpPr>
        <p:spPr>
          <a:xfrm>
            <a:off x="3048000" y="4171194"/>
            <a:ext cx="6067425" cy="9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F23D247-FE0C-97A8-0905-ACF43D7556BD}"/>
              </a:ext>
            </a:extLst>
          </p:cNvPr>
          <p:cNvCxnSpPr>
            <a:cxnSpLocks/>
          </p:cNvCxnSpPr>
          <p:nvPr/>
        </p:nvCxnSpPr>
        <p:spPr>
          <a:xfrm>
            <a:off x="5350790" y="1715715"/>
            <a:ext cx="28575" cy="2455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53F017-19ED-51F5-527A-29AC6CFE7300}"/>
              </a:ext>
            </a:extLst>
          </p:cNvPr>
          <p:cNvCxnSpPr>
            <a:cxnSpLocks/>
          </p:cNvCxnSpPr>
          <p:nvPr/>
        </p:nvCxnSpPr>
        <p:spPr>
          <a:xfrm>
            <a:off x="7410469" y="1715715"/>
            <a:ext cx="12320" cy="2455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627DC98C-5DC1-985E-C44D-D4025FF05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639" y="4646241"/>
            <a:ext cx="5598372" cy="1535586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A55FCA-622C-9C1E-1403-B14726939697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3025291" y="2098986"/>
            <a:ext cx="6090134" cy="19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1AB493B-0A49-F80B-97A5-193B492BB562}"/>
              </a:ext>
            </a:extLst>
          </p:cNvPr>
          <p:cNvSpPr txBox="1"/>
          <p:nvPr/>
        </p:nvSpPr>
        <p:spPr>
          <a:xfrm>
            <a:off x="7387933" y="2097069"/>
            <a:ext cx="17993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600" dirty="0"/>
              <a:t>Connectivity Diagnostics</a:t>
            </a:r>
            <a:br>
              <a:rPr lang="en-IN" sz="1600" dirty="0"/>
            </a:br>
            <a:endParaRPr lang="en-IN" sz="1600" dirty="0"/>
          </a:p>
          <a:p>
            <a:pPr lvl="0" algn="ctr"/>
            <a:r>
              <a:rPr lang="en-IN" sz="1600" dirty="0"/>
              <a:t>Hysteresis-Based Recovery</a:t>
            </a:r>
            <a:br>
              <a:rPr lang="en-IN" sz="1600" dirty="0"/>
            </a:br>
            <a:endParaRPr lang="en-IN" sz="1600" dirty="0"/>
          </a:p>
          <a:p>
            <a:pPr lvl="0" algn="ctr"/>
            <a:r>
              <a:rPr lang="en-IN" sz="1600" dirty="0"/>
              <a:t>SHA-256 Verification</a:t>
            </a:r>
          </a:p>
          <a:p>
            <a:pPr algn="ctr"/>
            <a:endParaRPr lang="en-IN" sz="16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EDCC2D-3079-0BF9-EDCC-23FB5A0DDED7}"/>
              </a:ext>
            </a:extLst>
          </p:cNvPr>
          <p:cNvSpPr txBox="1"/>
          <p:nvPr/>
        </p:nvSpPr>
        <p:spPr>
          <a:xfrm>
            <a:off x="7618492" y="1726303"/>
            <a:ext cx="133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Tackled It</a:t>
            </a: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A60ED-C899-4618-BFEF-A834CA5E35ED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809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F2D6E6-9F22-9FE5-D6E8-82DE73030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1238" y="885583"/>
            <a:ext cx="2738136" cy="15423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600" b="1" dirty="0"/>
              <a:t>Hysteresis-Based Recovery</a:t>
            </a:r>
            <a:br>
              <a:rPr lang="en-IN" sz="1600" b="1" dirty="0"/>
            </a:br>
            <a:br>
              <a:rPr lang="en-IN" sz="1600" b="1" dirty="0"/>
            </a:br>
            <a:br>
              <a:rPr lang="en-IN" sz="1600" b="1" dirty="0"/>
            </a:br>
            <a:endParaRPr lang="en-IN" sz="1600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968EDA-01DE-D4EE-1EE8-36760936FA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374872" y="1098630"/>
            <a:ext cx="3086221" cy="12741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600" b="1" dirty="0"/>
              <a:t>Code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DA7F3-09A5-0815-AF13-A0AF3D34145F}"/>
              </a:ext>
            </a:extLst>
          </p:cNvPr>
          <p:cNvSpPr txBox="1"/>
          <p:nvPr/>
        </p:nvSpPr>
        <p:spPr>
          <a:xfrm>
            <a:off x="66429" y="3649388"/>
            <a:ext cx="49405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Test</a:t>
            </a:r>
            <a:r>
              <a:rPr lang="en-IN" sz="1600" dirty="0"/>
              <a:t>: </a:t>
            </a:r>
            <a:br>
              <a:rPr lang="en-IN" sz="1600" dirty="0"/>
            </a:br>
            <a:r>
              <a:rPr lang="en-IN" sz="1600" dirty="0"/>
              <a:t>Simulate link failures and recoveries using configured thresholds.</a:t>
            </a:r>
            <a:br>
              <a:rPr lang="en-IN" sz="1600" dirty="0"/>
            </a:br>
            <a:br>
              <a:rPr lang="en-IN" sz="1600" dirty="0"/>
            </a:br>
            <a:r>
              <a:rPr lang="en-IN" sz="1600" b="1" dirty="0"/>
              <a:t>Observed</a:t>
            </a:r>
            <a:r>
              <a:rPr lang="en-IN" sz="1600" dirty="0"/>
              <a:t>: 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B9EDBD-A86B-23B6-6000-04D12116B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97" y="1528702"/>
            <a:ext cx="4377596" cy="200024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B6DF59-D689-DC84-B5DD-EE0EB1A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957" y="1503677"/>
            <a:ext cx="3980043" cy="39505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DCACDBC-BE2D-CD95-913F-69A8AA3F4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72" y="5017072"/>
            <a:ext cx="4309021" cy="50559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52E02C-37F8-C027-7CBB-47D5BB7F6338}"/>
              </a:ext>
            </a:extLst>
          </p:cNvPr>
          <p:cNvSpPr txBox="1"/>
          <p:nvPr/>
        </p:nvSpPr>
        <p:spPr>
          <a:xfrm>
            <a:off x="4932387" y="5258162"/>
            <a:ext cx="40947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IN" sz="1600" dirty="0"/>
            </a:br>
            <a:r>
              <a:rPr lang="en-IN" sz="1600" b="1" dirty="0"/>
              <a:t>Objectives Achieved</a:t>
            </a:r>
            <a:r>
              <a:rPr lang="en-IN" sz="1600" dirty="0"/>
              <a:t>:</a:t>
            </a:r>
            <a:br>
              <a:rPr lang="en-IN" sz="1600" dirty="0"/>
            </a:br>
            <a:r>
              <a:rPr lang="en-IN" sz="1600" dirty="0"/>
              <a:t> Failure detection and recovery time evaluation.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0CE7CE7-408A-9167-6715-C8748B6486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148" y="5464534"/>
            <a:ext cx="3203294" cy="79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09537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361830" y="1638300"/>
            <a:ext cx="809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dirty="0"/>
              <a:t>We Demonstrate </a:t>
            </a:r>
            <a:r>
              <a:rPr lang="en-IN" b="1" dirty="0"/>
              <a:t>hysteresis-based network recovery</a:t>
            </a:r>
            <a:r>
              <a:rPr lang="en-IN" dirty="0"/>
              <a:t>, </a:t>
            </a:r>
            <a:r>
              <a:rPr lang="en-IN" b="1" dirty="0"/>
              <a:t>multipath file transfer </a:t>
            </a:r>
            <a:r>
              <a:rPr lang="en-IN" dirty="0"/>
              <a:t>with SHA-256 verification, and </a:t>
            </a:r>
            <a:r>
              <a:rPr lang="en-IN" b="1" dirty="0"/>
              <a:t>network diagnostics with performance benchmarking.</a:t>
            </a:r>
          </a:p>
          <a:p>
            <a:br>
              <a:rPr lang="en-IN" sz="2000" dirty="0"/>
            </a:br>
            <a:endParaRPr sz="195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A74799-9ABD-9E6B-58DF-476007C4C17F}"/>
              </a:ext>
            </a:extLst>
          </p:cNvPr>
          <p:cNvCxnSpPr/>
          <p:nvPr/>
        </p:nvCxnSpPr>
        <p:spPr>
          <a:xfrm>
            <a:off x="0" y="2627453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4CC7A4F-2BBD-C6E1-B419-FDFC3D48C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23" y="3075602"/>
            <a:ext cx="4233320" cy="9433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D005B3-09A5-DD9E-5F94-3D0FB8F8CADA}"/>
              </a:ext>
            </a:extLst>
          </p:cNvPr>
          <p:cNvSpPr txBox="1"/>
          <p:nvPr/>
        </p:nvSpPr>
        <p:spPr>
          <a:xfrm>
            <a:off x="1458411" y="2675764"/>
            <a:ext cx="295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Multipath Transfer Lab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21B1D2-569C-7ADE-185C-E0AD2696A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23" y="4075252"/>
            <a:ext cx="4282896" cy="22554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18DB0A-AFB8-2196-FB21-05DAE20296FB}"/>
              </a:ext>
            </a:extLst>
          </p:cNvPr>
          <p:cNvSpPr txBox="1"/>
          <p:nvPr/>
        </p:nvSpPr>
        <p:spPr>
          <a:xfrm>
            <a:off x="92596" y="3190875"/>
            <a:ext cx="66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Path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9A8A50-1A59-CE5E-32A0-731B6954FB16}"/>
              </a:ext>
            </a:extLst>
          </p:cNvPr>
          <p:cNvSpPr txBox="1"/>
          <p:nvPr/>
        </p:nvSpPr>
        <p:spPr>
          <a:xfrm>
            <a:off x="0" y="4714875"/>
            <a:ext cx="753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Output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2D5FD-B589-6080-0224-9403E220F06A}"/>
              </a:ext>
            </a:extLst>
          </p:cNvPr>
          <p:cNvSpPr txBox="1"/>
          <p:nvPr/>
        </p:nvSpPr>
        <p:spPr>
          <a:xfrm>
            <a:off x="5833640" y="2720459"/>
            <a:ext cx="262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Network Diagnostics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BFDBBF0-F32E-1C2E-5A04-3386B64F4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057" y="4099209"/>
            <a:ext cx="3632943" cy="22554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2D0C03-7182-D655-D36A-E431D59A5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057" y="3165157"/>
            <a:ext cx="3632943" cy="85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476250" y="3627397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165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4953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lang="en-IN" b="1" dirty="0"/>
              <a:t>AI Tools Used</a:t>
            </a:r>
          </a:p>
          <a:p>
            <a:pPr lvl="0" algn="ctr"/>
            <a:r>
              <a:rPr lang="en-IN" sz="1600" dirty="0"/>
              <a:t>ChatGPT — Planning and documentation</a:t>
            </a:r>
          </a:p>
          <a:p>
            <a:pPr lvl="0" algn="ctr"/>
            <a:r>
              <a:rPr lang="en-IN" sz="1600" dirty="0"/>
              <a:t>Claude — Code generation and implementation</a:t>
            </a:r>
          </a:p>
          <a:p>
            <a:pPr lvl="0" algn="ctr"/>
            <a:r>
              <a:rPr lang="en-IN" sz="1600" dirty="0"/>
              <a:t>Perplexity AI — Research paper discovery</a:t>
            </a:r>
          </a:p>
          <a:p>
            <a:pPr lvl="0" algn="ctr"/>
            <a:r>
              <a:rPr lang="en-IN" sz="1600" dirty="0"/>
              <a:t>Google Gemini — Concept exploration and image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DB605-00EA-C2E9-D2F1-405E171751E1}"/>
              </a:ext>
            </a:extLst>
          </p:cNvPr>
          <p:cNvSpPr/>
          <p:nvPr/>
        </p:nvSpPr>
        <p:spPr>
          <a:xfrm>
            <a:off x="224742" y="1244036"/>
            <a:ext cx="1954312" cy="1695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E6D0-12C5-B1D4-DE71-FCDC96AECD15}"/>
              </a:ext>
            </a:extLst>
          </p:cNvPr>
          <p:cNvSpPr/>
          <p:nvPr/>
        </p:nvSpPr>
        <p:spPr>
          <a:xfrm>
            <a:off x="2528276" y="1230776"/>
            <a:ext cx="1954311" cy="1709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9398A5-1D0B-75AE-2FAE-7FDA7E426137}"/>
              </a:ext>
            </a:extLst>
          </p:cNvPr>
          <p:cNvSpPr/>
          <p:nvPr/>
        </p:nvSpPr>
        <p:spPr>
          <a:xfrm>
            <a:off x="4831809" y="1244036"/>
            <a:ext cx="1867747" cy="16829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0B31B3-0097-FFD0-A915-A1C81ECF0CD1}"/>
              </a:ext>
            </a:extLst>
          </p:cNvPr>
          <p:cNvSpPr/>
          <p:nvPr/>
        </p:nvSpPr>
        <p:spPr>
          <a:xfrm>
            <a:off x="7023059" y="1244036"/>
            <a:ext cx="1851469" cy="16829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0BCD5-A302-A6CE-ED9C-EB93272B9EFD}"/>
              </a:ext>
            </a:extLst>
          </p:cNvPr>
          <p:cNvSpPr txBox="1"/>
          <p:nvPr/>
        </p:nvSpPr>
        <p:spPr>
          <a:xfrm>
            <a:off x="347241" y="1516284"/>
            <a:ext cx="1504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Outcome</a:t>
            </a:r>
            <a:br>
              <a:rPr lang="en-IN" b="1" dirty="0"/>
            </a:br>
            <a:r>
              <a:rPr lang="en-IN" dirty="0"/>
              <a:t> Reliable Recovery &amp; Transfer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964A8-917E-D036-4272-66857635C2CB}"/>
              </a:ext>
            </a:extLst>
          </p:cNvPr>
          <p:cNvSpPr txBox="1"/>
          <p:nvPr/>
        </p:nvSpPr>
        <p:spPr>
          <a:xfrm>
            <a:off x="2595681" y="1572337"/>
            <a:ext cx="1699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Application</a:t>
            </a:r>
            <a:r>
              <a:rPr lang="en-IN" dirty="0"/>
              <a:t> Network Fault Diagnosis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91A46A-C04E-456D-200A-5E8ECB151F8C}"/>
              </a:ext>
            </a:extLst>
          </p:cNvPr>
          <p:cNvSpPr txBox="1"/>
          <p:nvPr/>
        </p:nvSpPr>
        <p:spPr>
          <a:xfrm>
            <a:off x="4952741" y="1572337"/>
            <a:ext cx="1625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Limitation</a:t>
            </a:r>
            <a:r>
              <a:rPr lang="en-IN" dirty="0"/>
              <a:t> Simulated Logical Paths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FE4036-4F10-DE1A-9C30-67859795C710}"/>
              </a:ext>
            </a:extLst>
          </p:cNvPr>
          <p:cNvSpPr txBox="1"/>
          <p:nvPr/>
        </p:nvSpPr>
        <p:spPr>
          <a:xfrm>
            <a:off x="7164728" y="1604416"/>
            <a:ext cx="1584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Future Scope </a:t>
            </a:r>
            <a:r>
              <a:rPr lang="en-IN" dirty="0"/>
              <a:t>Adaptive Path Scheduling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F39FD-74EA-C1F4-C9CC-BF98464CA6AF}"/>
              </a:ext>
            </a:extLst>
          </p:cNvPr>
          <p:cNvSpPr txBox="1"/>
          <p:nvPr/>
        </p:nvSpPr>
        <p:spPr>
          <a:xfrm>
            <a:off x="350496" y="3265448"/>
            <a:ext cx="84430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Team Contributions</a:t>
            </a:r>
          </a:p>
          <a:p>
            <a:pPr lvl="0" algn="ctr"/>
            <a:r>
              <a:rPr lang="en-IN" dirty="0"/>
              <a:t>Manjiri Sakore — Feature 1 &amp; 2 Implementation, Technical Architecture</a:t>
            </a:r>
          </a:p>
          <a:p>
            <a:pPr lvl="0" algn="ctr"/>
            <a:r>
              <a:rPr lang="en-IN" dirty="0"/>
              <a:t>Rishita Kumar — Feature 3 Implementation, Research &amp; Ideation</a:t>
            </a:r>
          </a:p>
          <a:p>
            <a:pPr lvl="0" algn="ctr"/>
            <a:r>
              <a:rPr lang="en-IN" dirty="0" err="1"/>
              <a:t>Aashnaa</a:t>
            </a:r>
            <a:r>
              <a:rPr lang="en-IN" dirty="0"/>
              <a:t> Panda  — Frontend Development, Research,  PPT Design &amp; Presentation</a:t>
            </a:r>
          </a:p>
          <a:p>
            <a:pPr lvl="0" algn="ctr"/>
            <a:r>
              <a:rPr lang="en-IN" dirty="0"/>
              <a:t>Tanushree Doddamani — Database Management, Testing, Documentation Writing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dirty="0"/>
              <a:t>[1] “</a:t>
            </a:r>
            <a:r>
              <a:rPr lang="en-IN" b="1" dirty="0"/>
              <a:t>On-demand scheduling for concurrent multipath transfer using the Stream Control Transmission Protocol (SCTP)</a:t>
            </a:r>
            <a:r>
              <a:rPr lang="en-IN" dirty="0"/>
              <a:t>,” Journal of Network and Computer Applications, 2015. [Online]. </a:t>
            </a:r>
            <a:br>
              <a:rPr lang="en-IN" dirty="0"/>
            </a:br>
            <a:r>
              <a:rPr lang="en-IN" dirty="0"/>
              <a:t>Available: </a:t>
            </a:r>
            <a:r>
              <a:rPr lang="en-IN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https://www.sciencedirect.com/science/article/abs/pii/</a:t>
            </a:r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S108480451400215X</a:t>
            </a:r>
            <a:br>
              <a:rPr lang="en-IN" dirty="0"/>
            </a:br>
            <a:endParaRPr lang="en-IN" dirty="0"/>
          </a:p>
          <a:p>
            <a:r>
              <a:rPr lang="en-IN" dirty="0"/>
              <a:t>[2] “</a:t>
            </a:r>
            <a:r>
              <a:rPr lang="en-IN" b="1" dirty="0"/>
              <a:t>On the impact of routing matrix inconsistencies on statistical path monitoring in overlay networks</a:t>
            </a:r>
            <a:r>
              <a:rPr lang="en-IN" dirty="0"/>
              <a:t>,” 2009. [Online]. Available: </a:t>
            </a:r>
            <a:r>
              <a:rPr lang="en-IN" dirty="0">
                <a:hlinkClick r:id="rId4"/>
              </a:rPr>
              <a:t>https://www.sciencedirect.com/science/article/pii/S108480451400215X?via%3Dihub</a:t>
            </a:r>
            <a:br>
              <a:rPr lang="en-IN" dirty="0">
                <a:hlinkClick r:id="rId4"/>
              </a:rPr>
            </a:br>
            <a:endParaRPr lang="en-IN" dirty="0"/>
          </a:p>
          <a:p>
            <a:r>
              <a:rPr lang="en-IN" dirty="0"/>
              <a:t>[3] A. </a:t>
            </a:r>
            <a:r>
              <a:rPr lang="en-IN" dirty="0" err="1"/>
              <a:t>Jurgelionis</a:t>
            </a:r>
            <a:r>
              <a:rPr lang="en-IN" dirty="0"/>
              <a:t>, J. P. </a:t>
            </a:r>
            <a:r>
              <a:rPr lang="en-IN" dirty="0" err="1"/>
              <a:t>Laulajainen</a:t>
            </a:r>
            <a:r>
              <a:rPr lang="en-IN" dirty="0"/>
              <a:t>, M. Hirvonen, and A. I. Wang, “</a:t>
            </a:r>
            <a:r>
              <a:rPr lang="en-IN" b="1" dirty="0"/>
              <a:t>An Empirical Study of NetEm Network Emulation Functionalities</a:t>
            </a:r>
            <a:r>
              <a:rPr lang="en-IN" dirty="0"/>
              <a:t>,” in Proc. 20th Int. Conf. Computer Communications and Networks (ICCCN), 2011, pp. 1–6, </a:t>
            </a:r>
            <a:r>
              <a:rPr lang="en-IN" dirty="0" err="1"/>
              <a:t>doi</a:t>
            </a:r>
            <a:r>
              <a:rPr lang="en-IN" dirty="0"/>
              <a:t>: </a:t>
            </a:r>
            <a:r>
              <a:rPr lang="en-IN" dirty="0">
                <a:hlinkClick r:id="rId5" action="ppaction://hlinkfile"/>
              </a:rPr>
              <a:t>10.1109/ICCCN.2011.6005933.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1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1109</Words>
  <Application>Microsoft Office PowerPoint</Application>
  <DocSecurity>0</DocSecurity>
  <PresentationFormat>On-screen Show (4:3)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Vedant Sakore</cp:lastModifiedBy>
  <cp:revision>2</cp:revision>
  <dcterms:created xsi:type="dcterms:W3CDTF">2026-10-14T10:56:48Z</dcterms:created>
  <dcterms:modified xsi:type="dcterms:W3CDTF">2026-10-18T14:01:13Z</dcterms:modified>
</cp:coreProperties>
</file>